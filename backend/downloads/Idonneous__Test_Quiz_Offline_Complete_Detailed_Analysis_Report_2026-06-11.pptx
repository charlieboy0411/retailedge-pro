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Summary: Total participants 5 reached average score of 76%. Certification readiness stands at 60%.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Funnel details: Total registered: 6. Attended count: 5. Drop outs/No Shows count: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Performance statistics: Avg score 76%, max achieved score 100%, passing mark set at 70%.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Podium rankings: 1st Neha Singh at 100%, followed by 2nd Rahul Sharma and 3rd Priya Patel.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Difficulty Summary: Easiest question was Q1 (92% accuracy). Most difficult question was Q3 (31% accuracy).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 Analysis details: Weakest areas include Technical Spacing SOPs. Immediate recommendations involve microlearning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Retention report: Knowledge gain calculation shows +22% improvement from a 54%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Territorial details: North leads with 86% average score, East requires check (80% pass rate).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standings: Sen ranked highest at 4.9 feedback rating, Demo Trainer following at 4.7.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Certification analysis: Certified workforce rate is 60%. Expired credentials stand at 2%.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Attendance analytics: Training attendance 95%, Evaluation participation 92%. Dropoff is 3%.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Summary notes: Strongest area: Launch Basics. Weakest area: Spacing guidelines. Action: conduct makeup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 plan checklist: Spacing cards by Jun 10, Hex sheet by Jun 12, makeup quiz by Jun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0" cy="45720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6F21"/>
                </a:solidFill>
              </a:rPr>
              <a:t>CLIENT LOGO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875520" y="365760"/>
            <a:ext cx="1645920" cy="45720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875520" y="365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IDONNEOUS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37160" cy="2377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6F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IDONNEOUS 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Quiz Offline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Trainer: Demo Trainer  ·  Project Client: Idonneous 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Session Date: 2026-06-10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5303520"/>
            <a:ext cx="11247120" cy="45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5486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IDONNEOUS LEARNING ARENA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54864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Generated By: Super Admin on 6/11/2026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 (KPIs) and operational summary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Idonneous Learning Arena · Idonneous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Super Admin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146304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45920"/>
            <a:ext cx="146304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920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4688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2066544" y="1645920"/>
            <a:ext cx="146304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66544" y="1645920"/>
            <a:ext cx="146304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2112264" y="1920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12264" y="24688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3675888" y="1645920"/>
            <a:ext cx="146304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75888" y="1645920"/>
            <a:ext cx="146304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3721608" y="1920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21608" y="24688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5285232" y="1645920"/>
            <a:ext cx="146304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85232" y="1645920"/>
            <a:ext cx="1463040" cy="91440"/>
          </a:xfrm>
          <a:prstGeom prst="rect">
            <a:avLst/>
          </a:prstGeom>
          <a:solidFill>
            <a:srgbClr val="F36F21"/>
          </a:solidFill>
          <a:ln/>
        </p:spPr>
      </p:sp>
      <p:sp>
        <p:nvSpPr>
          <p:cNvPr id="22" name="Text 20"/>
          <p:cNvSpPr/>
          <p:nvPr/>
        </p:nvSpPr>
        <p:spPr>
          <a:xfrm>
            <a:off x="5330952" y="1920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Score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30952" y="24688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6894576" y="1645920"/>
            <a:ext cx="146304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94576" y="1645920"/>
            <a:ext cx="146304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6940296" y="1920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0296" y="24688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8503920" y="1645920"/>
            <a:ext cx="146304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03920" y="1645920"/>
            <a:ext cx="1463040" cy="91440"/>
          </a:xfrm>
          <a:prstGeom prst="rect">
            <a:avLst/>
          </a:prstGeom>
          <a:solidFill>
            <a:srgbClr val="F36F21"/>
          </a:solidFill>
          <a:ln/>
        </p:spPr>
      </p:sp>
      <p:sp>
        <p:nvSpPr>
          <p:cNvPr id="30" name="Text 28"/>
          <p:cNvSpPr/>
          <p:nvPr/>
        </p:nvSpPr>
        <p:spPr>
          <a:xfrm>
            <a:off x="8549640" y="1920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549640" y="24688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10113264" y="1645920"/>
            <a:ext cx="146304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13264" y="1645920"/>
            <a:ext cx="146304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10158984" y="1920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158984" y="24688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4.8/5</a:t>
            </a:r>
            <a:endParaRPr lang="en-US" sz="2600" dirty="0"/>
          </a:p>
        </p:txBody>
      </p:sp>
      <p:sp>
        <p:nvSpPr>
          <p:cNvPr id="36" name="Shape 34"/>
          <p:cNvSpPr/>
          <p:nvPr/>
        </p:nvSpPr>
        <p:spPr>
          <a:xfrm>
            <a:off x="457200" y="4023360"/>
            <a:ext cx="1124712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023360"/>
            <a:ext cx="137160" cy="1920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6F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NARRATIVE OPERATIONAL SUMMARY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31520" y="44805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evaluation achieved a completion rate of 92% with an average score of 76%. Compliance-related categories showed strong overall workforce readiness. Top-tier metrics in certifications (60%) suggest successful learning retention, while regional analysis highlights solid adoption across multiple territories.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 &amp; FUNNEL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mapping of user invitation lifecycle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Idonneous Learning Arena · Idonneous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Super Admin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554480"/>
            <a:ext cx="10972800" cy="91440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691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INVITED / ENROLLED  ·  6 Learners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0574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Rate: 100%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921240" y="1691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600200" y="2697480"/>
            <a:ext cx="8961120" cy="914400"/>
          </a:xfrm>
          <a:prstGeom prst="round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1874520" y="28346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ATTENDED / JOINED  ·  5 Learners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74520" y="32004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Rate: 83%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15400" y="2834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2606040" y="3840480"/>
            <a:ext cx="6949440" cy="914400"/>
          </a:xfrm>
          <a:prstGeom prst="roundRect">
            <a:avLst/>
          </a:prstGeom>
          <a:solidFill>
            <a:srgbClr val="F36F21"/>
          </a:solidFill>
          <a:ln/>
        </p:spPr>
      </p:sp>
      <p:sp>
        <p:nvSpPr>
          <p:cNvPr id="17" name="Text 15"/>
          <p:cNvSpPr/>
          <p:nvPr/>
        </p:nvSpPr>
        <p:spPr>
          <a:xfrm>
            <a:off x="2880360" y="3977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EVALUATION  ·  3 Learners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80360" y="4343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Rate: 50%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09560" y="3977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3611880" y="4983480"/>
            <a:ext cx="4937760" cy="914400"/>
          </a:xfrm>
          <a:prstGeom prst="roundRect">
            <a:avLst/>
          </a:prstGeom>
          <a:solidFill>
            <a:srgbClr val="7F1D1D"/>
          </a:solidFill>
          <a:ln/>
        </p:spPr>
      </p:sp>
      <p:sp>
        <p:nvSpPr>
          <p:cNvPr id="21" name="Text 19"/>
          <p:cNvSpPr/>
          <p:nvPr/>
        </p:nvSpPr>
        <p:spPr>
          <a:xfrm>
            <a:off x="3886200" y="5120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DROPPED / NO-SHOW  ·  1 Learners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86200" y="5486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Rate: 17%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03720" y="5120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PERFORMANCE 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score distribution benchmarks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Idonneous Learning Arena · Idonneous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Super Admin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210312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45920"/>
            <a:ext cx="2103120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Accuracy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assessment benchmark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1645920"/>
            <a:ext cx="210312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1645920"/>
            <a:ext cx="2103120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283464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Score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25603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2834640" y="3749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master milestone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0" y="1645920"/>
            <a:ext cx="210312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1645920"/>
            <a:ext cx="2103120" cy="137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Score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25603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5120640" y="3749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recorded assessment score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0" y="1645920"/>
            <a:ext cx="210312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1645920"/>
            <a:ext cx="210312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740664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Score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06640" y="25603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7406640" y="3749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Midpoint user distribution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601200" y="1645920"/>
            <a:ext cx="210312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0" y="1645920"/>
            <a:ext cx="2103120" cy="137160"/>
          </a:xfrm>
          <a:prstGeom prst="rect">
            <a:avLst/>
          </a:prstGeom>
          <a:solidFill>
            <a:srgbClr val="F36F21"/>
          </a:solidFill>
          <a:ln/>
        </p:spPr>
      </p:sp>
      <p:sp>
        <p:nvSpPr>
          <p:cNvPr id="30" name="Text 28"/>
          <p:cNvSpPr/>
          <p:nvPr/>
        </p:nvSpPr>
        <p:spPr>
          <a:xfrm>
            <a:off x="969264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Passing Benchmark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92640" y="25603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9692640" y="3749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competency threshold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5120640"/>
            <a:ext cx="1124712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52578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summary: The passing score requirement is set at 70%. Overall, 3 out of 5 participants successfully crossed this threshold.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 STANDINGS &amp; LEADERBOARD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 of the top-performing associates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Idonneous Learning Arena · Idonneous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Super Admin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3566160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F36F2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54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6F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1 (GOLD)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Neha Singh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100%  ·  Duration: 38s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5 / 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1463040"/>
            <a:ext cx="3566160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554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2 (SILVER)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Rahul Sharma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80560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80%  ·  Duration: 45s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4 / 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38160" y="1463040"/>
            <a:ext cx="3566160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554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3 (BRONZE)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Patel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21040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80%  ·  Duration: 42s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2104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4 / 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112471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474720"/>
                <a:gridCol w="1645920"/>
                <a:gridCol w="1645920"/>
                <a:gridCol w="164592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Employee Name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Duration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#4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Amit Kumar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EMP103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3 / 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60%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50s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#5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Suresh Yadav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EMP105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3 / 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60%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55s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ANALYSIS &amp; MATRIX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response correctness metrics per evaluation item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Idonneous Learning Arena · Idonneous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Super Admin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84632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Question Statement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Correct 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Incorrect 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Skipped 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Difficulty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Q1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What is the capital city of Australia?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92%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Easy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Q2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Which planet is known as the "Red Planet"?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48%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Q3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Who wrote the Indian National Anthem "Jana Gana Mana"?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31%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64%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</a:rPr>
                        <a:t>Hard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Q4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Which is the largest ocean on Earth?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31%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</a:rPr>
                        <a:t>Hard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Q5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How many continents are there in the world?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31%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</a:rPr>
                        <a:t>Hard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120640"/>
            <a:ext cx="1124712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52120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Performance Matrix Insights: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Q1 is categorised as "Easy" indicating highly successful core learning alignment.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Q3 has an accuracy level of 31% ("Hard"), indicating a major configuration learning gap that requires intervention.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GAP ANALYSIS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concepts requiring refresher instruction modules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Idonneous Learning Arena · Idonneous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Super Admin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530352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WEAK TOPICS &amp; ACCURACY AREAS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475488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377440"/>
            <a:ext cx="91440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4688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Technical Spacing SOP Compliance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7889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Performance: 31% Accuracy  ·  Classification: Critical Risk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3383280"/>
            <a:ext cx="475488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383280"/>
            <a:ext cx="9144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4747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Operational Editor Hex Values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7947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Performance: 48% Accuracy  ·  Classification: Moderate Gap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4389120"/>
            <a:ext cx="475488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389120"/>
            <a:ext cx="9144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4805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Brand Alignment Consistency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8006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Performance: 72% Accuracy  ·  Classification: Minor Review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0" y="1645920"/>
            <a:ext cx="530352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6F21"/>
                </a:solidFill>
              </a:rPr>
              <a:t>L&amp;D REMEDIAL RECOMMENDATIONS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75120" y="23774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📌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0" y="237744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targeted 5-minute microlearning cards on Spacing Guidelines.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5120" y="32004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📌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32320" y="32004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 30-minute peer review led by Perfect-Scoring team members.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0" y="40233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📌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32320" y="402336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validation re-quiz specifically mapping weak SOP guidelines.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75120" y="48463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📌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32320" y="484632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secondary reference files and guidelines onto the learning portal.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EFFECTIVENESS INDEX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Pre-Assessment vs Post-Assessment retention outcomes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Idonneous Learning Arena · Idonneous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Super Admin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530352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45920"/>
            <a:ext cx="5303520" cy="137160"/>
          </a:xfrm>
          <a:prstGeom prst="rect">
            <a:avLst/>
          </a:prstGeom>
          <a:solidFill>
            <a:srgbClr val="F36F2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11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PRE-ASSESSMENT BENCHMARK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54%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36F21"/>
                </a:solidFill>
              </a:rPr>
              <a:t>Baseline standard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1645920"/>
            <a:ext cx="530352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645920"/>
            <a:ext cx="5303520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011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POST-ASSESSMENT RESULT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23774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76%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6675120" y="35661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0B981"/>
                </a:solidFill>
              </a:rPr>
              <a:t>Post-instruction score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480560"/>
            <a:ext cx="1124712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📚 MEASURED KNOWLEDGE GAIN SCORE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937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</a:rPr>
              <a:t>+22%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2743200" y="493776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positive net knowledge increase of 22% indicates standard classroom instruction was highly effective in transferring core operational parameters. Further continuous checks are suggested.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PERFORMANCE &amp; TERRITORY INDEX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rates and pass standing across India territories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Idonneous Learning Arena · Idonneous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Super Admin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47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645920"/>
                <a:gridCol w="1645920"/>
                <a:gridCol w="1645920"/>
                <a:gridCol w="164592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India Territory / Zone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Invited Learners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Joined Count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Completion 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Passing Rate 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Average Score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North Zone (Delhi NCR)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94%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91%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86%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East Zone (Kolkata)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79%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West Zone (Mumbai)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78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91%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84%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South Zone (Bangalore)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754880"/>
            <a:ext cx="1124712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48920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Territorial Highlights: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North Zone (Delhi NCR) achieved the highest Average Score at 86%.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East Zone represents a key support area with the lowest passing rate of 80%. Additional coordinator focus is recommended.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PERFORMANCE &amp; EFFECTIVENESS RANKS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Instructors leading training sessions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Idonneous Learning Arena · Idonneous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Super Admin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47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645920"/>
                <a:gridCol w="1645920"/>
                <a:gridCol w="1645920"/>
                <a:gridCol w="164592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Trainer Name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Sessions Allocated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Average Score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Learner Completion 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Feedback Rating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Effectiveness Index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Ananya Sen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 Sessions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4.9 / 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Outstanding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Demo Trainer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 Sessions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76%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4.7 / 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Excellent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Rajesh Kumar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 Sessions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79%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4.5 / 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Satisfactory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389120"/>
            <a:ext cx="11247120" cy="1554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45262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Trainer Effectiveness Notes: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Ranks are calculated based on a weighted index of learner average score (40%), completion rate (30%), and feedback rating (30%).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Trainer Ananya Sen ranked #1 this review period due to outstanding engagement metrics.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Standard program templates are recommended to align instruction parameters.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STATUS ANALYSIS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workforce readiness qualifications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Idonneous Learning Arena · Idonneous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Super Admin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35661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45920"/>
            <a:ext cx="3566160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CERTIFIED ASSOCIATES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60%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 Learners  ·  Active deployment eligible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1645920"/>
            <a:ext cx="35661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645920"/>
            <a:ext cx="3566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PENDING RETRIAL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80560" y="23774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10%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480560" y="3474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 Learners  ·  Awaiting secondary attempt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38160" y="1645920"/>
            <a:ext cx="35661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645920"/>
            <a:ext cx="3566160" cy="137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EXPIRED CREDENTIALS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21040" y="23774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2%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8321040" y="3474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 Learners  ·  Refresher requirement overdue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11247120" cy="1280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8006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Audit Compliance Warning: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Deployment parameters require all on-field staff to maintain active certifications.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Currently, 88% of evaluated personnel satisfy workforce compliance requirements. Program managers should schedule makeup sessions for the remaining 12%.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attendance compared with quiz participation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Idonneous Learning Arena · Idonneous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Super Admin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35661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45920"/>
            <a:ext cx="3566160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TRAINING ATTENDANCE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95%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Learners present in live webinar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1645920"/>
            <a:ext cx="35661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645920"/>
            <a:ext cx="3566160" cy="137160"/>
          </a:xfrm>
          <a:prstGeom prst="rect">
            <a:avLst/>
          </a:prstGeom>
          <a:solidFill>
            <a:srgbClr val="F36F21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EVALUATION PARTICIPATION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80560" y="23774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92%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480560" y="3474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Active quiz response submissions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38160" y="1645920"/>
            <a:ext cx="35661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645920"/>
            <a:ext cx="3566160" cy="137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OVERALL DISCREPANCY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21040" y="23774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3%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8321040" y="3474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Webinar joins without evaluation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11247120" cy="1280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8006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Drop-off Breakdown: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Discrepancy analysis indicates approximately 3% of learners joined the webinar but failed to complete the quiz assessment. The trainer should follow up on network disconnects or late departures during future evaluation slots.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INSIGHTS &amp; RECOMMENDATIONS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commentary generated from evaluation results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Idonneous Learning Arena · Idonneous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Super Admin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530352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🤖 AUTO-GENERATED COMMENTARY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 demonstrate strong product concept familiarity, yielding an average accuracy of 76%. However, compliance response times suggest slower muscle-memory recall. A key operational pattern shows that participants who scored below the passing benchmark did not review study attachments.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645920"/>
            <a:ext cx="530352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6F21"/>
                </a:solidFill>
              </a:rPr>
              <a:t>💡 AI REMEDIAL GUIDELINE INSIGHTS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286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6F21"/>
                </a:solidFill>
              </a:rPr>
              <a:t>Strongest Topic: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2560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Product Launch Basics (92%)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3154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6F21"/>
                </a:solidFill>
              </a:rPr>
              <a:t>Weakest Topic: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34290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Technical Spacing Compliance (31%)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0" y="4023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6F21"/>
                </a:solidFill>
              </a:rPr>
              <a:t>Critical Question: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4297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Question #3 (lowest score)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48920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6F21"/>
                </a:solidFill>
              </a:rPr>
              <a:t>Remediation: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5166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Conduct refresher training within 15 days.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PLAN &amp; TIMELINE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operational next steps mapping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Idonneous Learning Arena · Idonneous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Super Admin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474720"/>
                <a:gridCol w="1645920"/>
                <a:gridCol w="164592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Issue / Gap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Corrective Action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Timeline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Technical Spacing Gap (31%)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Deploy 5-min microlearning spacing cards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L&amp;D 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June 10, 2026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Pending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Hex Code Confusions (48%)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Provide editor validation reference cheat-sheet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Project PM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June 12, 2026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</a:rPr>
                        <a:t>Scheduled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Evaluation No-Shows (12%)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Schedule mandatory 15-minute makeup quiz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Demo Trainer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June 15, 2026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</a:rPr>
                        <a:t>Planning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389120"/>
            <a:ext cx="11247120" cy="1554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45262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Action Plan Guidelines: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Correction timelines are calculated in compliance with standard L&amp;D client agreement standards.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Execution progress will be reviewed during the next Monthly Business Review (MBR).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Contact the allocated project coordinators if modifications are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ATTENDANCE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Project: Galderma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Idonneous Learning Arena · Idonneous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Super Admin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1188720"/>
                <a:gridCol w="1463040"/>
                <a:gridCol w="2926080"/>
                <a:gridCol w="128016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Employee ID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Employee Name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Zone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Training Topic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 Spent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TRN001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Demo Trainer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2026-06-10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galderma meet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1m 1s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Attended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TRN001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Demo Trainer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2026-06-10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Galderma Launchpad product knowledge west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53s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Attended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333333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Divya Gaikwad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2026-06-09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Project Launchpad Training - North/West/East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10m 15s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Attended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333333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Divya Gaikwad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2026-06-10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galderma meet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1m 43s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Completed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1828800"/>
            <a:ext cx="3657600" cy="91440"/>
          </a:xfrm>
          <a:prstGeom prst="rect">
            <a:avLst/>
          </a:prstGeom>
          <a:solidFill>
            <a:srgbClr val="F36F2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03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Idonneous Learning Arena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3375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Idonneous Marketing Services Pvt Ltd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3931920"/>
            <a:ext cx="548640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41148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any queries or customized review reports, please contact our Learning &amp; Development Operations Center.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0" y="4754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6F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✉️ support@idonneous.com  ·  🌐 www.idonneous.com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2026-06-11T12:46:08Z</dcterms:created>
  <dcterms:modified xsi:type="dcterms:W3CDTF">2026-06-11T12:46:08Z</dcterms:modified>
</cp:coreProperties>
</file>